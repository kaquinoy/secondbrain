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572000"/>
            <a:ext cx="3200400" cy="3200400"/>
          </a:xfrm>
          <a:prstGeom prst="ellipse">
            <a:avLst/>
          </a:prstGeom>
          <a:solidFill>
            <a:srgbClr val="00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5BE50"/>
                </a:solidFill>
                <a:latin typeface="Poppins"/>
              </a:rPr>
              <a:t>SEGUIMIENTO DE COMPROMISOS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Poppins"/>
              </a:rPr>
              <a:t>Depósitos · Abril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DDFF"/>
                </a:solidFill>
                <a:latin typeface="Poppins"/>
              </a:rPr>
              <a:t>Análisis de incumplimiento por Banca, Zonal y Ejecutivo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AACC"/>
                </a:solidFill>
                <a:latin typeface="Poppins"/>
              </a:rPr>
              <a:t>Interbank · Product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oppins"/>
              </a:rPr>
              <a:t>Resumen Ejecutivo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6060"/>
                </a:solidFill>
                <a:latin typeface="Poppins"/>
              </a:rPr>
              <a:t>Todos los clientes monitoreados incumplen su compromiso · Período: Abril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3474720" cy="34747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Poppins"/>
              </a:rPr>
              <a:t>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Poppins"/>
              </a:rPr>
              <a:t>Clientes
incumpliendo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920240"/>
            <a:ext cx="3474720" cy="3474720"/>
          </a:xfrm>
          <a:prstGeom prst="rect">
            <a:avLst/>
          </a:prstGeom>
          <a:solidFill>
            <a:srgbClr val="00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228600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Poppins"/>
              </a:rPr>
              <a:t>38.6%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319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Poppins"/>
              </a:rPr>
              <a:t>Cumplimiento
promedio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920240"/>
            <a:ext cx="3474720" cy="3474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228600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Poppins"/>
              </a:rPr>
              <a:t>S/ 2.1M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39319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Poppins"/>
              </a:rPr>
              <a:t>Ganancia
potencial perdida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Poppins"/>
              </a:rPr>
              <a:t>Fuente: Excel reunion.xlsx · Procesado 2026-06-15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oppins"/>
              </a:rPr>
              <a:t>Incumplimiento por Banca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566160" cy="914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8988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Poppins"/>
              </a:rPr>
              <a:t>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Poppins"/>
              </a:rPr>
              <a:t>Banca Corporativa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423160"/>
            <a:ext cx="3566160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59736"/>
            <a:ext cx="19613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Poppins"/>
              </a:rPr>
              <a:t>Clientes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27148" y="2459736"/>
            <a:ext cx="1533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2060"/>
                </a:solidFill>
                <a:latin typeface="Poppins"/>
              </a:rPr>
              <a:t>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81528"/>
            <a:ext cx="35661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118104"/>
            <a:ext cx="19613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Poppins"/>
              </a:rPr>
              <a:t>Cumplimiento prom.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7148" y="3118104"/>
            <a:ext cx="1533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2060"/>
                </a:solidFill>
                <a:latin typeface="Poppins"/>
              </a:rPr>
              <a:t>24.6%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39896"/>
            <a:ext cx="3566160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76472"/>
            <a:ext cx="19613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Poppins"/>
              </a:rPr>
              <a:t>Saldo promedio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7148" y="3776472"/>
            <a:ext cx="1533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2060"/>
                </a:solidFill>
                <a:latin typeface="Poppins"/>
              </a:rPr>
              <a:t>S/ 338M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398264"/>
            <a:ext cx="35661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434840"/>
            <a:ext cx="19613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Poppins"/>
              </a:rPr>
              <a:t>Compromiso 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7148" y="4434840"/>
            <a:ext cx="1533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2060"/>
                </a:solidFill>
                <a:latin typeface="Poppins"/>
              </a:rPr>
              <a:t>S/ 1,140M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56632"/>
            <a:ext cx="3566160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093208"/>
            <a:ext cx="19613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Poppins"/>
              </a:rPr>
              <a:t>Extra perdido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7148" y="5093208"/>
            <a:ext cx="1533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00000"/>
                </a:solidFill>
                <a:latin typeface="Poppins"/>
              </a:rPr>
              <a:t>S/ 1.99M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87952" y="1371600"/>
            <a:ext cx="3566160" cy="914400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87952" y="138988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Poppins"/>
              </a:rPr>
              <a:t>BEL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87952" y="18288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Poppins"/>
              </a:rPr>
              <a:t>Banca Empresa Líder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87952" y="2423160"/>
            <a:ext cx="3566160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9392" y="2459736"/>
            <a:ext cx="19613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Poppins"/>
              </a:rPr>
              <a:t>Clientes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9340" y="2459736"/>
            <a:ext cx="1533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2060"/>
                </a:solidFill>
                <a:latin typeface="Poppins"/>
              </a:rPr>
              <a:t>19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87952" y="3081528"/>
            <a:ext cx="35661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9392" y="3118104"/>
            <a:ext cx="19613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Poppins"/>
              </a:rPr>
              <a:t>Cumplimiento prom.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9340" y="3118104"/>
            <a:ext cx="1533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2060"/>
                </a:solidFill>
                <a:latin typeface="Poppins"/>
              </a:rPr>
              <a:t>51.8%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87952" y="3739896"/>
            <a:ext cx="3566160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79392" y="3776472"/>
            <a:ext cx="19613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Poppins"/>
              </a:rPr>
              <a:t>Saldo promedio total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9340" y="3776472"/>
            <a:ext cx="1533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2060"/>
                </a:solidFill>
                <a:latin typeface="Poppins"/>
              </a:rPr>
              <a:t>S/ 39M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87952" y="4398264"/>
            <a:ext cx="35661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79392" y="4434840"/>
            <a:ext cx="19613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Poppins"/>
              </a:rPr>
              <a:t>Compromiso total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9340" y="4434840"/>
            <a:ext cx="1533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2060"/>
                </a:solidFill>
                <a:latin typeface="Poppins"/>
              </a:rPr>
              <a:t>S/ 72M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87952" y="5056632"/>
            <a:ext cx="3566160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79392" y="5093208"/>
            <a:ext cx="19613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Poppins"/>
              </a:rPr>
              <a:t>Extra perdido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49340" y="5093208"/>
            <a:ext cx="1533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00000"/>
                </a:solidFill>
                <a:latin typeface="Poppins"/>
              </a:rPr>
              <a:t>S/ 49.8K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10144" y="1371600"/>
            <a:ext cx="3566160" cy="914400"/>
          </a:xfrm>
          <a:prstGeom prst="rect">
            <a:avLst/>
          </a:prstGeom>
          <a:solidFill>
            <a:srgbClr val="00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10144" y="138988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Poppins"/>
              </a:rPr>
              <a:t>BEP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10144" y="18288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Poppins"/>
              </a:rPr>
              <a:t>Banca Empresa Plus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10144" y="2423160"/>
            <a:ext cx="3566160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01584" y="2459736"/>
            <a:ext cx="19613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Poppins"/>
              </a:rPr>
              <a:t>Clientes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71532" y="2459736"/>
            <a:ext cx="1533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2060"/>
                </a:solidFill>
                <a:latin typeface="Poppins"/>
              </a:rPr>
              <a:t>14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10144" y="3081528"/>
            <a:ext cx="35661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01584" y="3118104"/>
            <a:ext cx="19613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Poppins"/>
              </a:rPr>
              <a:t>Cumplimiento prom.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1532" y="3118104"/>
            <a:ext cx="1533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2060"/>
                </a:solidFill>
                <a:latin typeface="Poppins"/>
              </a:rPr>
              <a:t>69.8%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10144" y="3739896"/>
            <a:ext cx="3566160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01584" y="3776472"/>
            <a:ext cx="19613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Poppins"/>
              </a:rPr>
              <a:t>Saldo promedio total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71532" y="3776472"/>
            <a:ext cx="1533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2060"/>
                </a:solidFill>
                <a:latin typeface="Poppins"/>
              </a:rPr>
              <a:t>S/ 433M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10144" y="4398264"/>
            <a:ext cx="35661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01584" y="4434840"/>
            <a:ext cx="19613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Poppins"/>
              </a:rPr>
              <a:t>Compromiso total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71532" y="4434840"/>
            <a:ext cx="1533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2060"/>
                </a:solidFill>
                <a:latin typeface="Poppins"/>
              </a:rPr>
              <a:t>S/ 528M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10144" y="5056632"/>
            <a:ext cx="3566160" cy="62179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01584" y="5093208"/>
            <a:ext cx="19613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Poppins"/>
              </a:rPr>
              <a:t>Extra perdido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1532" y="5093208"/>
            <a:ext cx="1533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00000"/>
                </a:solidFill>
                <a:latin typeface="Poppins"/>
              </a:rPr>
              <a:t>S/ 70.6K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Poppins"/>
              </a:rPr>
              <a:t>BC concentra el 95% de la ganancia potencial no realizada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oppins"/>
              </a:rPr>
              <a:t>Detalle BC — Banca Corporativa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Poppins"/>
              </a:rPr>
              <a:t>Por Zonal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2743200" cy="347472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7099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Zonal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691640"/>
            <a:ext cx="914400" cy="347472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7099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Clientes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691640"/>
            <a:ext cx="1097280" cy="347472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17099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Cumpl.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1691640"/>
            <a:ext cx="1828800" cy="347472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7099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Saldo Total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691640"/>
            <a:ext cx="1828800" cy="347472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17099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Extra Perdido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75688"/>
            <a:ext cx="274320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2075688"/>
            <a:ext cx="91440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0" y="2075688"/>
            <a:ext cx="109728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57800" y="2075688"/>
            <a:ext cx="182880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0" y="2075688"/>
            <a:ext cx="182880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1214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Poppins"/>
              </a:rPr>
              <a:t>BC GRUPO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12140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Poppin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21214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Poppins"/>
              </a:rPr>
              <a:t>35.2%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1214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Poppins"/>
              </a:rPr>
              <a:t>S/ 17M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1214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Poppins"/>
              </a:rPr>
              <a:t>S/ 19.6K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487168"/>
            <a:ext cx="2743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54680" y="2487168"/>
            <a:ext cx="914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0" y="2487168"/>
            <a:ext cx="1097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57800" y="2487168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32320" y="2487168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5328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Poppins"/>
              </a:rPr>
              <a:t>BC GRUPO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25328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Poppins"/>
              </a:rPr>
              <a:t>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25328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Poppins"/>
              </a:rPr>
              <a:t>23.5%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253288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Poppins"/>
              </a:rPr>
              <a:t>S/ 322M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253288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Poppins"/>
              </a:rPr>
              <a:t>S/ 1.97M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108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Poppins"/>
              </a:rPr>
              <a:t>Top Ejecutivos por Ganancia Perdida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520440"/>
            <a:ext cx="3840480" cy="320040"/>
          </a:xfrm>
          <a:prstGeom prst="rect">
            <a:avLst/>
          </a:prstGeom>
          <a:solidFill>
            <a:srgbClr val="00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3538728"/>
            <a:ext cx="3749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oppins"/>
              </a:rPr>
              <a:t>Ejecutivo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51960" y="3520440"/>
            <a:ext cx="2011680" cy="320040"/>
          </a:xfrm>
          <a:prstGeom prst="rect">
            <a:avLst/>
          </a:prstGeom>
          <a:solidFill>
            <a:srgbClr val="00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0" y="353872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oppins"/>
              </a:rPr>
              <a:t>Zonal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520440"/>
            <a:ext cx="914400" cy="320040"/>
          </a:xfrm>
          <a:prstGeom prst="rect">
            <a:avLst/>
          </a:prstGeom>
          <a:solidFill>
            <a:srgbClr val="00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35387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oppins"/>
              </a:rPr>
              <a:t>Clientes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69480" y="3520440"/>
            <a:ext cx="1097280" cy="320040"/>
          </a:xfrm>
          <a:prstGeom prst="rect">
            <a:avLst/>
          </a:prstGeom>
          <a:solidFill>
            <a:srgbClr val="00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0" y="353872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oppins"/>
              </a:rPr>
              <a:t>Cumpl.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3520440"/>
            <a:ext cx="1645920" cy="320040"/>
          </a:xfrm>
          <a:prstGeom prst="rect">
            <a:avLst/>
          </a:prstGeom>
          <a:solidFill>
            <a:srgbClr val="00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58200" y="353872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oppins"/>
              </a:rPr>
              <a:t>Extra Perdido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867912"/>
            <a:ext cx="3840480" cy="3474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51960" y="3867912"/>
            <a:ext cx="2011680" cy="3474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09360" y="3867912"/>
            <a:ext cx="914400" cy="3474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69480" y="3867912"/>
            <a:ext cx="1097280" cy="3474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12480" y="3867912"/>
            <a:ext cx="1645920" cy="3474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3904488"/>
            <a:ext cx="3749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RODRÍGUEZ SANGURIMA M. L.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80" y="390448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BC GRUPO 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5080" y="390448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29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39044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17.4%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58200" y="390448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Poppins"/>
              </a:rPr>
              <a:t>S/ 1.93M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4233672"/>
            <a:ext cx="3840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51960" y="4233672"/>
            <a:ext cx="2011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09360" y="4233672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69480" y="4233672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412480" y="4233672"/>
            <a:ext cx="1645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4270248"/>
            <a:ext cx="3749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ROMERO MASÍAS M.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97680" y="427024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BC GRUPO 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55080" y="427024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16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0" y="427024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24.9%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58200" y="427024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Poppins"/>
              </a:rPr>
              <a:t>S/ 35.9K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4599432"/>
            <a:ext cx="3840480" cy="3474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51960" y="4599432"/>
            <a:ext cx="2011680" cy="3474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09360" y="4599432"/>
            <a:ext cx="914400" cy="3474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269480" y="4599432"/>
            <a:ext cx="1097280" cy="3474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412480" y="4599432"/>
            <a:ext cx="1645920" cy="3474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1480" y="4636008"/>
            <a:ext cx="3749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DUHART NARANJO L. M.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97680" y="463600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BC GRUPO 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55080" y="463600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15200" y="463600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20.7%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58200" y="463600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Poppins"/>
              </a:rPr>
              <a:t>S/ 15.7K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4965192"/>
            <a:ext cx="3840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251960" y="4965192"/>
            <a:ext cx="2011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309360" y="4965192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69480" y="4965192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412480" y="4965192"/>
            <a:ext cx="1645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1480" y="5001768"/>
            <a:ext cx="3749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MORA HARTMANN R. M.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97680" y="500176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BC GRUPO 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55080" y="500176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0" y="500176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42.5%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58200" y="50017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Poppins"/>
              </a:rPr>
              <a:t>S/ 3.9K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" y="5330952"/>
            <a:ext cx="3840480" cy="3474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251960" y="5330952"/>
            <a:ext cx="2011680" cy="3474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09360" y="5330952"/>
            <a:ext cx="914400" cy="3474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269480" y="5330952"/>
            <a:ext cx="1097280" cy="3474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412480" y="5330952"/>
            <a:ext cx="1645920" cy="3474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1480" y="5367528"/>
            <a:ext cx="3749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ESCUDERO BERNARDO G.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297680" y="536752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BC GRUPO 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55080" y="5367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315200" y="536752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77.7%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458200" y="536752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Poppins"/>
              </a:rPr>
              <a:t>S/ 2.5K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oppins"/>
              </a:rPr>
              <a:t>Detalle BEL — Banca Empresa Líder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Poppins"/>
              </a:rPr>
              <a:t>Por Zonal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2743200" cy="347472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7099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Zonal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691640"/>
            <a:ext cx="914400" cy="347472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7099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Clientes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691640"/>
            <a:ext cx="1097280" cy="347472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17099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Cumpl.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1691640"/>
            <a:ext cx="1828800" cy="347472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7099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Saldo Total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691640"/>
            <a:ext cx="1828800" cy="347472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17099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Extra Perdido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75688"/>
            <a:ext cx="274320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2075688"/>
            <a:ext cx="91440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0" y="2075688"/>
            <a:ext cx="109728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57800" y="2075688"/>
            <a:ext cx="182880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0" y="2075688"/>
            <a:ext cx="182880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1214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Poppins"/>
              </a:rPr>
              <a:t>BEL ZONAL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12140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Poppins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21214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Poppins"/>
              </a:rPr>
              <a:t>45.5%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1214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Poppins"/>
              </a:rPr>
              <a:t>S/ 17M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1214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Poppins"/>
              </a:rPr>
              <a:t>S/ 28.3K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487168"/>
            <a:ext cx="2743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54680" y="2487168"/>
            <a:ext cx="914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0" y="2487168"/>
            <a:ext cx="1097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57800" y="2487168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32320" y="2487168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5328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Poppins"/>
              </a:rPr>
              <a:t>BEL ZONAL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25328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Poppin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25328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Poppins"/>
              </a:rPr>
              <a:t>39.4%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253288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Poppins"/>
              </a:rPr>
              <a:t>S/ 14M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253288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Poppins"/>
              </a:rPr>
              <a:t>S/ 18.1K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898648"/>
            <a:ext cx="274320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54680" y="2898648"/>
            <a:ext cx="91440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2898648"/>
            <a:ext cx="109728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257800" y="2898648"/>
            <a:ext cx="182880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132320" y="2898648"/>
            <a:ext cx="1828800" cy="38404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29443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Poppins"/>
              </a:rPr>
              <a:t>BEL ZONAL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294436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Poppins"/>
              </a:rP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60520" y="29443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Poppins"/>
              </a:rPr>
              <a:t>61.6%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0" y="29443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Poppins"/>
              </a:rPr>
              <a:t>S/ 7M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29443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Poppins"/>
              </a:rPr>
              <a:t>S/ 3.4K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Poppins"/>
              </a:rPr>
              <a:t>Top Ejecutivos por Ganancia Perdida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611880"/>
            <a:ext cx="3840480" cy="320040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3630168"/>
            <a:ext cx="3749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oppins"/>
              </a:rPr>
              <a:t>Ejecutivo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51960" y="3611880"/>
            <a:ext cx="2011680" cy="320040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97680" y="363016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oppins"/>
              </a:rPr>
              <a:t>Zonal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3611880"/>
            <a:ext cx="914400" cy="320040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363016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oppins"/>
              </a:rPr>
              <a:t>Clientes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69480" y="3611880"/>
            <a:ext cx="1097280" cy="320040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0" y="363016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oppins"/>
              </a:rPr>
              <a:t>Cumpl.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0" y="3611880"/>
            <a:ext cx="1645920" cy="320040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58200" y="36301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oppins"/>
              </a:rPr>
              <a:t>Extra Perdido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3959352"/>
            <a:ext cx="3840480" cy="3474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51960" y="3959352"/>
            <a:ext cx="2011680" cy="3474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09360" y="3959352"/>
            <a:ext cx="914400" cy="3474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69480" y="3959352"/>
            <a:ext cx="1097280" cy="3474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412480" y="3959352"/>
            <a:ext cx="1645920" cy="3474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3995928"/>
            <a:ext cx="3749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CABRERA GALÁN DE NOLASCO Z. Y.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97680" y="399592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BEL ZONAL 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55080" y="39959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0" y="399592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22.5%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58200" y="399592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Poppins"/>
              </a:rPr>
              <a:t>S/ 11.9K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4325112"/>
            <a:ext cx="3840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51960" y="4325112"/>
            <a:ext cx="2011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09360" y="4325112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269480" y="4325112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412480" y="4325112"/>
            <a:ext cx="1645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1480" y="4361688"/>
            <a:ext cx="3749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CHANG PILLIHUARI D. Z.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97680" y="436168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BEL ZONAL 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55080" y="436168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15200" y="43616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49.5%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58200" y="436168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Poppins"/>
              </a:rPr>
              <a:t>S/ 9.5K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4690872"/>
            <a:ext cx="3840480" cy="3474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251960" y="4690872"/>
            <a:ext cx="2011680" cy="3474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309360" y="4690872"/>
            <a:ext cx="914400" cy="3474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69480" y="4690872"/>
            <a:ext cx="1097280" cy="3474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412480" y="4690872"/>
            <a:ext cx="1645920" cy="3474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1480" y="4727448"/>
            <a:ext cx="3749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BOLAÑOS DÍAZ R. F.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97680" y="472744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BEL ZONAL 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55080" y="472744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0" y="472744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49.0%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58200" y="472744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Poppins"/>
              </a:rPr>
              <a:t>S/ 8.6K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" y="5056632"/>
            <a:ext cx="3840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251960" y="5056632"/>
            <a:ext cx="2011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09360" y="5056632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269480" y="5056632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412480" y="5056632"/>
            <a:ext cx="1645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1480" y="5093208"/>
            <a:ext cx="3749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MEDRANO LUNA A. A.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297680" y="509320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BEL ZONAL 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55080" y="509320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315200" y="509320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19.7%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458200" y="509320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Poppins"/>
              </a:rPr>
              <a:t>S/ 8.3K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5760" y="5422392"/>
            <a:ext cx="3840480" cy="3474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251960" y="5422392"/>
            <a:ext cx="2011680" cy="3474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309360" y="5422392"/>
            <a:ext cx="914400" cy="3474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269480" y="5422392"/>
            <a:ext cx="1097280" cy="3474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12480" y="5422392"/>
            <a:ext cx="1645920" cy="3474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11480" y="5458968"/>
            <a:ext cx="3749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ZEGARRA LLOSA A.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297680" y="545896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BEL ZONAL 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355080" y="545896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315200" y="545896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59.5%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458200" y="54589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Poppins"/>
              </a:rPr>
              <a:t>S/ 1.9K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oppins"/>
              </a:rPr>
              <a:t>Detalle BEP — Banca Empresa Plus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Poppins"/>
              </a:rPr>
              <a:t>Por Zonal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2743200" cy="347472"/>
          </a:xfrm>
          <a:prstGeom prst="rect">
            <a:avLst/>
          </a:prstGeom>
          <a:solidFill>
            <a:srgbClr val="00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7099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Zonal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691640"/>
            <a:ext cx="914400" cy="347472"/>
          </a:xfrm>
          <a:prstGeom prst="rect">
            <a:avLst/>
          </a:prstGeom>
          <a:solidFill>
            <a:srgbClr val="00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7099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Clientes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691640"/>
            <a:ext cx="1097280" cy="347472"/>
          </a:xfrm>
          <a:prstGeom prst="rect">
            <a:avLst/>
          </a:prstGeom>
          <a:solidFill>
            <a:srgbClr val="00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17099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Cumpl.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1691640"/>
            <a:ext cx="1828800" cy="347472"/>
          </a:xfrm>
          <a:prstGeom prst="rect">
            <a:avLst/>
          </a:prstGeom>
          <a:solidFill>
            <a:srgbClr val="00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7099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Saldo Total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691640"/>
            <a:ext cx="1828800" cy="347472"/>
          </a:xfrm>
          <a:prstGeom prst="rect">
            <a:avLst/>
          </a:prstGeom>
          <a:solidFill>
            <a:srgbClr val="00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17099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Extra Perdido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75688"/>
            <a:ext cx="2743200" cy="384048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2075688"/>
            <a:ext cx="914400" cy="384048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0" y="2075688"/>
            <a:ext cx="1097280" cy="384048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57800" y="2075688"/>
            <a:ext cx="1828800" cy="384048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0" y="2075688"/>
            <a:ext cx="1828800" cy="384048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1214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Poppins"/>
              </a:rPr>
              <a:t>BEP ZONAL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12140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Poppin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21214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Poppins"/>
              </a:rPr>
              <a:t>82.9%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1214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Poppins"/>
              </a:rPr>
              <a:t>S/ 362M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1214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Poppins"/>
              </a:rPr>
              <a:t>S/ 19.0K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487168"/>
            <a:ext cx="2743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54680" y="2487168"/>
            <a:ext cx="914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0" y="2487168"/>
            <a:ext cx="1097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57800" y="2487168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32320" y="2487168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5328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Poppins"/>
              </a:rPr>
              <a:t>BEP ZONAL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25328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Poppins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25328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Poppins"/>
              </a:rPr>
              <a:t>61.0%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253288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Poppins"/>
              </a:rPr>
              <a:t>S/ 71M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253288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Poppins"/>
              </a:rPr>
              <a:t>S/ 51.6K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108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Poppins"/>
              </a:rPr>
              <a:t>Top Ejecutivos por Ganancia Perdida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520440"/>
            <a:ext cx="3840480" cy="320040"/>
          </a:xfrm>
          <a:prstGeom prst="rect">
            <a:avLst/>
          </a:prstGeom>
          <a:solidFill>
            <a:srgbClr val="00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3538728"/>
            <a:ext cx="3749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oppins"/>
              </a:rPr>
              <a:t>Ejecutivo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51960" y="3520440"/>
            <a:ext cx="2011680" cy="320040"/>
          </a:xfrm>
          <a:prstGeom prst="rect">
            <a:avLst/>
          </a:prstGeom>
          <a:solidFill>
            <a:srgbClr val="00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0" y="353872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oppins"/>
              </a:rPr>
              <a:t>Zonal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520440"/>
            <a:ext cx="914400" cy="320040"/>
          </a:xfrm>
          <a:prstGeom prst="rect">
            <a:avLst/>
          </a:prstGeom>
          <a:solidFill>
            <a:srgbClr val="00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35387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oppins"/>
              </a:rPr>
              <a:t>Clientes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69480" y="3520440"/>
            <a:ext cx="1097280" cy="320040"/>
          </a:xfrm>
          <a:prstGeom prst="rect">
            <a:avLst/>
          </a:prstGeom>
          <a:solidFill>
            <a:srgbClr val="00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0" y="353872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oppins"/>
              </a:rPr>
              <a:t>Cumpl.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3520440"/>
            <a:ext cx="1645920" cy="320040"/>
          </a:xfrm>
          <a:prstGeom prst="rect">
            <a:avLst/>
          </a:prstGeom>
          <a:solidFill>
            <a:srgbClr val="00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58200" y="353872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oppins"/>
              </a:rPr>
              <a:t>Extra Perdido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867912"/>
            <a:ext cx="3840480" cy="347472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51960" y="3867912"/>
            <a:ext cx="2011680" cy="347472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09360" y="3867912"/>
            <a:ext cx="914400" cy="347472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69480" y="3867912"/>
            <a:ext cx="1097280" cy="347472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12480" y="3867912"/>
            <a:ext cx="1645920" cy="347472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3904488"/>
            <a:ext cx="3749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GESTIÓN RAMÍREZ M.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80" y="390448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BEP ZONAL 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5080" y="390448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39044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54.7%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58200" y="390448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Poppins"/>
              </a:rPr>
              <a:t>S/ 51.1K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4233672"/>
            <a:ext cx="3840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51960" y="4233672"/>
            <a:ext cx="2011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09360" y="4233672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69480" y="4233672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412480" y="4233672"/>
            <a:ext cx="1645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4270248"/>
            <a:ext cx="3749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CALDERÓN CÓRDOVA K.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97680" y="427024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BEP ZONAL 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55080" y="427024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0" y="427024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54.5%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58200" y="427024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Poppins"/>
              </a:rPr>
              <a:t>S/ 17.6K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4599432"/>
            <a:ext cx="3840480" cy="347472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51960" y="4599432"/>
            <a:ext cx="2011680" cy="347472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09360" y="4599432"/>
            <a:ext cx="914400" cy="347472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269480" y="4599432"/>
            <a:ext cx="1097280" cy="347472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412480" y="4599432"/>
            <a:ext cx="1645920" cy="347472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1480" y="4636008"/>
            <a:ext cx="3749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ARANCIBIA BIANCO R. M.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97680" y="463600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BEP ZONAL 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55080" y="463600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15200" y="463600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92.4%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58200" y="463600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Poppins"/>
              </a:rPr>
              <a:t>S/ 1.4K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576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  <a:latin typeface="Poppins"/>
              </a:rPr>
              <a:t>Nota: BEP ZONAL 2 sin registros en el período.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oppins"/>
              </a:rPr>
              <a:t>Ranking de Ejecutivos — Ganancia Potencial No Realizada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36576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1752" y="1298448"/>
            <a:ext cx="310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oppins"/>
              </a:rPr>
              <a:t>#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320040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298448"/>
            <a:ext cx="3145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oppins"/>
              </a:rPr>
              <a:t>Ejecutivo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280160"/>
            <a:ext cx="54864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59352" y="1298448"/>
            <a:ext cx="493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oppins"/>
              </a:rPr>
              <a:t>Bca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1280160"/>
            <a:ext cx="731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298448"/>
            <a:ext cx="676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oppins"/>
              </a:rPr>
              <a:t>Clientes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280160"/>
            <a:ext cx="731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0952" y="1298448"/>
            <a:ext cx="676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oppins"/>
              </a:rPr>
              <a:t>Cumpl.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280160"/>
            <a:ext cx="128016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298448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oppins"/>
              </a:rPr>
              <a:t>Extra Perdido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129844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2060"/>
                </a:solidFill>
                <a:latin typeface="Poppins"/>
              </a:rPr>
              <a:t>Barra comparativa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627632"/>
            <a:ext cx="36576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1627632"/>
            <a:ext cx="320040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1920" y="1627632"/>
            <a:ext cx="54864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26280" y="1627632"/>
            <a:ext cx="73152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03520" y="1627632"/>
            <a:ext cx="73152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1627632"/>
            <a:ext cx="128016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" y="1673352"/>
            <a:ext cx="310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Poppin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1673352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RODRÍGUEZ SANGURIMA M. 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9352" y="1673352"/>
            <a:ext cx="493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Poppins"/>
              </a:rPr>
              <a:t>BC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1673352"/>
            <a:ext cx="676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0952" y="1673352"/>
            <a:ext cx="676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17.4%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8192" y="1673352"/>
            <a:ext cx="1225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Poppins"/>
              </a:rPr>
              <a:t>S/ 1,933,255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3800" y="1719072"/>
            <a:ext cx="5943600" cy="228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2057400"/>
            <a:ext cx="3657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2057400"/>
            <a:ext cx="32004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31920" y="2057400"/>
            <a:ext cx="5486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26280" y="2057400"/>
            <a:ext cx="731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03520" y="2057400"/>
            <a:ext cx="731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80760" y="2057400"/>
            <a:ext cx="1280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" y="2103120"/>
            <a:ext cx="310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Poppins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2103120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GESTIÓN RAMÍREZ M.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59352" y="2103120"/>
            <a:ext cx="493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8C37"/>
                </a:solidFill>
                <a:latin typeface="Poppins"/>
              </a:rPr>
              <a:t>BEP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2103120"/>
            <a:ext cx="676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30952" y="2103120"/>
            <a:ext cx="676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54.7%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08192" y="2103120"/>
            <a:ext cx="1225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Poppins"/>
              </a:rPr>
              <a:t>S/ 51,053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43800" y="2148840"/>
            <a:ext cx="156957" cy="228600"/>
          </a:xfrm>
          <a:prstGeom prst="rect">
            <a:avLst/>
          </a:prstGeom>
          <a:solidFill>
            <a:srgbClr val="00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2487168"/>
            <a:ext cx="36576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85800" y="2487168"/>
            <a:ext cx="320040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931920" y="2487168"/>
            <a:ext cx="54864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26280" y="2487168"/>
            <a:ext cx="73152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303520" y="2487168"/>
            <a:ext cx="73152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80760" y="2487168"/>
            <a:ext cx="128016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1752" y="2532888"/>
            <a:ext cx="310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Poppins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" y="2532888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ROMERO MASÍAS M.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59352" y="2532888"/>
            <a:ext cx="493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Poppins"/>
              </a:rPr>
              <a:t>BC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53712" y="2532888"/>
            <a:ext cx="676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30952" y="2532888"/>
            <a:ext cx="676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24.9%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08192" y="2532888"/>
            <a:ext cx="1225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Poppins"/>
              </a:rPr>
              <a:t>S/ 35,944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43800" y="2578608"/>
            <a:ext cx="110506" cy="228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" y="2916936"/>
            <a:ext cx="3657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5800" y="2916936"/>
            <a:ext cx="32004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931920" y="2916936"/>
            <a:ext cx="5486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26280" y="2916936"/>
            <a:ext cx="731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303520" y="2916936"/>
            <a:ext cx="731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080760" y="2916936"/>
            <a:ext cx="1280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1752" y="2962656"/>
            <a:ext cx="310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Poppins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3232" y="2962656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CALDERÓN CÓRDOVA K.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59352" y="2962656"/>
            <a:ext cx="493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8C37"/>
                </a:solidFill>
                <a:latin typeface="Poppins"/>
              </a:rPr>
              <a:t>BEP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53712" y="2962656"/>
            <a:ext cx="676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30952" y="2962656"/>
            <a:ext cx="676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54.5%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08192" y="2962656"/>
            <a:ext cx="1225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Poppins"/>
              </a:rPr>
              <a:t>S/ 17,595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43800" y="3008376"/>
            <a:ext cx="54094" cy="228600"/>
          </a:xfrm>
          <a:prstGeom prst="rect">
            <a:avLst/>
          </a:prstGeom>
          <a:solidFill>
            <a:srgbClr val="00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74320" y="3346704"/>
            <a:ext cx="36576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85800" y="3346704"/>
            <a:ext cx="320040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931920" y="3346704"/>
            <a:ext cx="54864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526280" y="3346704"/>
            <a:ext cx="73152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303520" y="3346704"/>
            <a:ext cx="73152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080760" y="3346704"/>
            <a:ext cx="128016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01752" y="3392424"/>
            <a:ext cx="310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Poppins"/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3232" y="3392424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DUHART NARANJO L. M.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59352" y="3392424"/>
            <a:ext cx="493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Poppins"/>
              </a:rPr>
              <a:t>BC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53712" y="3392424"/>
            <a:ext cx="676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330952" y="3392424"/>
            <a:ext cx="676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20.7%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08192" y="3392424"/>
            <a:ext cx="1225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Poppins"/>
              </a:rPr>
              <a:t>S/ 15,656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543800" y="3438144"/>
            <a:ext cx="48132" cy="228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74320" y="3776472"/>
            <a:ext cx="3657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5800" y="3776472"/>
            <a:ext cx="32004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931920" y="3776472"/>
            <a:ext cx="5486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526280" y="3776472"/>
            <a:ext cx="731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303520" y="3776472"/>
            <a:ext cx="731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080760" y="3776472"/>
            <a:ext cx="1280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01752" y="3822192"/>
            <a:ext cx="310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Poppins"/>
              </a:rPr>
              <a:t>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3232" y="3822192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CABRERA GALÁN DE NOLASCO Z.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59352" y="3822192"/>
            <a:ext cx="493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39A6"/>
                </a:solidFill>
                <a:latin typeface="Poppins"/>
              </a:rPr>
              <a:t>BEL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53712" y="3822192"/>
            <a:ext cx="676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30952" y="3822192"/>
            <a:ext cx="676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22.5%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08192" y="3822192"/>
            <a:ext cx="1225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Poppins"/>
              </a:rPr>
              <a:t>S/ 11,897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43800" y="3867912"/>
            <a:ext cx="45720" cy="228600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74320" y="4206240"/>
            <a:ext cx="36576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85800" y="4206240"/>
            <a:ext cx="320040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931920" y="4206240"/>
            <a:ext cx="54864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526280" y="4206240"/>
            <a:ext cx="73152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303520" y="4206240"/>
            <a:ext cx="73152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080760" y="4206240"/>
            <a:ext cx="128016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1752" y="4251960"/>
            <a:ext cx="310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Poppins"/>
              </a:rPr>
              <a:t>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13232" y="4251960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CHANG PILLIHUARI D. Z.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959352" y="4251960"/>
            <a:ext cx="493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39A6"/>
                </a:solidFill>
                <a:latin typeface="Poppins"/>
              </a:rPr>
              <a:t>BEL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53712" y="4251960"/>
            <a:ext cx="676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330952" y="4251960"/>
            <a:ext cx="676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49.5%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108192" y="4251960"/>
            <a:ext cx="1225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Poppins"/>
              </a:rPr>
              <a:t>S/ 9,535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43800" y="4297680"/>
            <a:ext cx="45720" cy="228600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274320" y="4636008"/>
            <a:ext cx="3657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85800" y="4636008"/>
            <a:ext cx="32004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3931920" y="4636008"/>
            <a:ext cx="5486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526280" y="4636008"/>
            <a:ext cx="731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5303520" y="4636008"/>
            <a:ext cx="731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080760" y="4636008"/>
            <a:ext cx="1280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01752" y="4681728"/>
            <a:ext cx="310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Poppins"/>
              </a:rP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13232" y="4681728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BOLAÑOS DÍAZ R. F.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59352" y="4681728"/>
            <a:ext cx="493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39A6"/>
                </a:solidFill>
                <a:latin typeface="Poppins"/>
              </a:rPr>
              <a:t>BEL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53712" y="4681728"/>
            <a:ext cx="676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330952" y="4681728"/>
            <a:ext cx="676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49.0%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108192" y="4681728"/>
            <a:ext cx="1225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Poppins"/>
              </a:rPr>
              <a:t>S/ 8,570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543800" y="4727448"/>
            <a:ext cx="45720" cy="228600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274320" y="5065776"/>
            <a:ext cx="36576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85800" y="5065776"/>
            <a:ext cx="320040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1920" y="5065776"/>
            <a:ext cx="54864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526280" y="5065776"/>
            <a:ext cx="73152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5303520" y="5065776"/>
            <a:ext cx="73152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6080760" y="5065776"/>
            <a:ext cx="128016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1752" y="5111496"/>
            <a:ext cx="310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Poppins"/>
              </a:rPr>
              <a:t>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13232" y="5111496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MEDRANO LUNA A. A.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959352" y="5111496"/>
            <a:ext cx="493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39A6"/>
                </a:solidFill>
                <a:latin typeface="Poppins"/>
              </a:rPr>
              <a:t>BEL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553712" y="5111496"/>
            <a:ext cx="676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330952" y="5111496"/>
            <a:ext cx="676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19.7%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108192" y="5111496"/>
            <a:ext cx="1225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Poppins"/>
              </a:rPr>
              <a:t>S/ 8,348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543800" y="5157216"/>
            <a:ext cx="45720" cy="228600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74320" y="5495544"/>
            <a:ext cx="3657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85800" y="5495544"/>
            <a:ext cx="32004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3931920" y="5495544"/>
            <a:ext cx="5486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526280" y="5495544"/>
            <a:ext cx="731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303520" y="5495544"/>
            <a:ext cx="731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080760" y="5495544"/>
            <a:ext cx="1280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01752" y="5541264"/>
            <a:ext cx="310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Poppins"/>
              </a:rPr>
              <a:t>10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13232" y="5541264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MORA HARTMANN R. M.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959352" y="5541264"/>
            <a:ext cx="493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Poppins"/>
              </a:rPr>
              <a:t>BC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553712" y="5541264"/>
            <a:ext cx="676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330952" y="5541264"/>
            <a:ext cx="676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Poppins"/>
              </a:rPr>
              <a:t>42.5%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108192" y="5541264"/>
            <a:ext cx="1225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Poppins"/>
              </a:rPr>
              <a:t>S/ 3,911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43800" y="5586984"/>
            <a:ext cx="45720" cy="228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7543800" y="5989320"/>
            <a:ext cx="182880" cy="1828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772400" y="59893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Poppins"/>
              </a:rPr>
              <a:t>BC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366760" y="5989320"/>
            <a:ext cx="182880" cy="182880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595360" y="59893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Poppins"/>
              </a:rPr>
              <a:t>BEL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189720" y="5989320"/>
            <a:ext cx="182880" cy="182880"/>
          </a:xfrm>
          <a:prstGeom prst="rect">
            <a:avLst/>
          </a:prstGeom>
          <a:solidFill>
            <a:srgbClr val="00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418320" y="59893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Poppins"/>
              </a:rPr>
              <a:t>BEP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00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5BE50"/>
                </a:solidFill>
                <a:latin typeface="Poppins"/>
              </a:rPr>
              <a:t>PRÓXIMOS PASOS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Poppins"/>
              </a:rPr>
              <a:t>Acción sobre incumplimientos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3291840" cy="2743200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5BE50"/>
                </a:solidFill>
                <a:latin typeface="Poppi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Priorizar BC GRUPO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319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FF"/>
                </a:solidFill>
                <a:latin typeface="Poppins"/>
              </a:rPr>
              <a:t>Concentra S/1.97M de la pérdida. Revisión urgente con Ejecutivo Rodríguez.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2743200"/>
            <a:ext cx="3291840" cy="2743200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27889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5BE50"/>
                </a:solidFill>
                <a:latin typeface="Poppi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3832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Seguimiento semanal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9319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FF"/>
                </a:solidFill>
                <a:latin typeface="Poppins"/>
              </a:rPr>
              <a:t>Establecer checkpoint semanal por zonal hasta levantar cumplimiento.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743200"/>
            <a:ext cx="3291840" cy="2743200"/>
          </a:xfrm>
          <a:prstGeom prst="rect">
            <a:avLst/>
          </a:prstGeom>
          <a:solidFill>
            <a:srgbClr val="00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27889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5BE50"/>
                </a:solidFill>
                <a:latin typeface="Poppin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3832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Plan de acción por ejecutivo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9319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FF"/>
                </a:solidFill>
                <a:latin typeface="Poppins"/>
              </a:rPr>
              <a:t>Cada ejecutivo propone acciones concretas con fecha de compromiso.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99BB"/>
                </a:solidFill>
                <a:latin typeface="Poppins"/>
              </a:rPr>
              <a:t>Interbank · Product Management · Junio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